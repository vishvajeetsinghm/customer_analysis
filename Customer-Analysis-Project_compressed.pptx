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Merriweather"/>
      <p:regular r:id="rId17"/>
    </p:embeddedFont>
    <p:embeddedFont>
      <p:font typeface="Merriweather"/>
      <p:regular r:id="rId18"/>
    </p:embeddedFont>
    <p:embeddedFont>
      <p:font typeface="Merriweather"/>
      <p:regular r:id="rId19"/>
    </p:embeddedFont>
    <p:embeddedFont>
      <p:font typeface="Merriweather"/>
      <p:regular r:id="rId20"/>
    </p:embeddedFont>
    <p:embeddedFont>
      <p:font typeface="Open Sans"/>
      <p:regular r:id="rId21"/>
    </p:embeddedFont>
    <p:embeddedFont>
      <p:font typeface="Open Sans"/>
      <p:regular r:id="rId22"/>
    </p:embeddedFont>
    <p:embeddedFont>
      <p:font typeface="Open Sans"/>
      <p:regular r:id="rId23"/>
    </p:embeddedFont>
    <p:embeddedFont>
      <p:font typeface="Open Sans"/>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0.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2130549"/>
            <a:ext cx="4592687"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Customer Analysis Project</a:t>
            </a:r>
            <a:endParaRPr lang="en-US" sz="2750" dirty="0"/>
          </a:p>
        </p:txBody>
      </p:sp>
      <p:sp>
        <p:nvSpPr>
          <p:cNvPr id="4" name="Text 1"/>
          <p:cNvSpPr/>
          <p:nvPr/>
        </p:nvSpPr>
        <p:spPr>
          <a:xfrm>
            <a:off x="496119" y="2786137"/>
            <a:ext cx="4722763" cy="226814"/>
          </a:xfrm>
          <a:prstGeom prst="rect">
            <a:avLst/>
          </a:prstGeom>
          <a:noFill/>
          <a:ln/>
        </p:spPr>
        <p:txBody>
          <a:bodyPr wrap="non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Power BI + PySpark ELT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617488"/>
            <a:ext cx="3544119"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Project Overview</a:t>
            </a:r>
            <a:endParaRPr lang="en-US" sz="2750" dirty="0"/>
          </a:p>
        </p:txBody>
      </p:sp>
      <p:sp>
        <p:nvSpPr>
          <p:cNvPr id="3" name="Text 1"/>
          <p:cNvSpPr/>
          <p:nvPr/>
        </p:nvSpPr>
        <p:spPr>
          <a:xfrm>
            <a:off x="496119" y="1992213"/>
            <a:ext cx="2628230" cy="1814513"/>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This project analyzes customer shopping behavior using Power BI and PySpark-based ELT processes. Raw retail transaction data is transformed into meaningful business insights through data engineering, transformation, and interactive visual analytics.</a:t>
            </a:r>
            <a:endParaRPr lang="en-US" sz="1100" dirty="0"/>
          </a:p>
        </p:txBody>
      </p:sp>
      <p:pic>
        <p:nvPicPr>
          <p:cNvPr id="4" name="Image 0" descr="preencoded.png">    </p:cNvPr>
          <p:cNvPicPr>
            <a:picLocks noChangeAspect="1"/>
          </p:cNvPicPr>
          <p:nvPr/>
        </p:nvPicPr>
        <p:blipFill>
          <a:blip r:embed="rId1"/>
          <a:stretch>
            <a:fillRect/>
          </a:stretch>
        </p:blipFill>
        <p:spPr>
          <a:xfrm>
            <a:off x="3474988" y="1432545"/>
            <a:ext cx="5177582" cy="29339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34132" y="386358"/>
            <a:ext cx="3101132" cy="387548"/>
          </a:xfrm>
          <a:prstGeom prst="rect">
            <a:avLst/>
          </a:prstGeom>
          <a:noFill/>
          <a:ln/>
        </p:spPr>
        <p:txBody>
          <a:bodyPr wrap="none" lIns="0" tIns="0" rIns="0" bIns="0" rtlCol="0" anchor="t"/>
          <a:lstStyle/>
          <a:p>
            <a:pPr algn="l" indent="0" marL="0">
              <a:lnSpc>
                <a:spcPts val="3050"/>
              </a:lnSpc>
              <a:buNone/>
            </a:pPr>
            <a:r>
              <a:rPr lang="en-US" sz="2400" b="1" dirty="0">
                <a:solidFill>
                  <a:srgbClr val="403C4E"/>
                </a:solidFill>
                <a:latin typeface="Merriweather Bold" pitchFamily="34" charset="0"/>
                <a:ea typeface="Merriweather Bold" pitchFamily="34" charset="-122"/>
                <a:cs typeface="Merriweather Bold" pitchFamily="34" charset="-120"/>
              </a:rPr>
              <a:t>Project Objectives</a:t>
            </a:r>
            <a:endParaRPr lang="en-US" sz="2400" dirty="0"/>
          </a:p>
        </p:txBody>
      </p:sp>
      <p:sp>
        <p:nvSpPr>
          <p:cNvPr id="3" name="Shape 1"/>
          <p:cNvSpPr/>
          <p:nvPr/>
        </p:nvSpPr>
        <p:spPr>
          <a:xfrm>
            <a:off x="434132" y="990972"/>
            <a:ext cx="4083621" cy="1183035"/>
          </a:xfrm>
          <a:prstGeom prst="roundRect">
            <a:avLst>
              <a:gd name="adj" fmla="val 4404"/>
            </a:avLst>
          </a:prstGeom>
          <a:solidFill>
            <a:srgbClr val="FFD8CC"/>
          </a:solidFill>
          <a:ln w="4763">
            <a:solidFill>
              <a:srgbClr val="E5BEB2"/>
            </a:solidFill>
            <a:prstDash val="solid"/>
          </a:ln>
        </p:spPr>
      </p:sp>
      <p:sp>
        <p:nvSpPr>
          <p:cNvPr id="4" name="Shape 2"/>
          <p:cNvSpPr/>
          <p:nvPr/>
        </p:nvSpPr>
        <p:spPr>
          <a:xfrm>
            <a:off x="562868" y="1119708"/>
            <a:ext cx="372070" cy="372070"/>
          </a:xfrm>
          <a:prstGeom prst="roundRect">
            <a:avLst>
              <a:gd name="adj" fmla="val 15358477"/>
            </a:avLst>
          </a:prstGeom>
          <a:solidFill>
            <a:srgbClr val="FFAD9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5187" y="1221953"/>
            <a:ext cx="167432" cy="167432"/>
          </a:xfrm>
          <a:prstGeom prst="rect">
            <a:avLst/>
          </a:prstGeom>
        </p:spPr>
      </p:pic>
      <p:sp>
        <p:nvSpPr>
          <p:cNvPr id="6" name="Text 3"/>
          <p:cNvSpPr/>
          <p:nvPr/>
        </p:nvSpPr>
        <p:spPr>
          <a:xfrm>
            <a:off x="562868" y="1600274"/>
            <a:ext cx="1596926"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Purchasing Behavior</a:t>
            </a:r>
            <a:endParaRPr lang="en-US" sz="1200" dirty="0"/>
          </a:p>
        </p:txBody>
      </p:sp>
      <p:sp>
        <p:nvSpPr>
          <p:cNvPr id="7" name="Text 4"/>
          <p:cNvSpPr/>
          <p:nvPr/>
        </p:nvSpPr>
        <p:spPr>
          <a:xfrm>
            <a:off x="562868" y="1859235"/>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Analyze customer purchasing patterns and trends</a:t>
            </a:r>
            <a:endParaRPr lang="en-US" sz="950" dirty="0"/>
          </a:p>
        </p:txBody>
      </p:sp>
      <p:sp>
        <p:nvSpPr>
          <p:cNvPr id="8" name="Shape 5"/>
          <p:cNvSpPr/>
          <p:nvPr/>
        </p:nvSpPr>
        <p:spPr>
          <a:xfrm>
            <a:off x="4626248" y="990972"/>
            <a:ext cx="4083621" cy="1183035"/>
          </a:xfrm>
          <a:prstGeom prst="roundRect">
            <a:avLst>
              <a:gd name="adj" fmla="val 4404"/>
            </a:avLst>
          </a:prstGeom>
          <a:solidFill>
            <a:srgbClr val="FFD8CC"/>
          </a:solidFill>
          <a:ln w="4763">
            <a:solidFill>
              <a:srgbClr val="E5BEB2"/>
            </a:solidFill>
            <a:prstDash val="solid"/>
          </a:ln>
        </p:spPr>
      </p:sp>
      <p:sp>
        <p:nvSpPr>
          <p:cNvPr id="9" name="Shape 6"/>
          <p:cNvSpPr/>
          <p:nvPr/>
        </p:nvSpPr>
        <p:spPr>
          <a:xfrm>
            <a:off x="4754984" y="1119708"/>
            <a:ext cx="372070" cy="372070"/>
          </a:xfrm>
          <a:prstGeom prst="roundRect">
            <a:avLst>
              <a:gd name="adj" fmla="val 15358477"/>
            </a:avLst>
          </a:prstGeom>
          <a:solidFill>
            <a:srgbClr val="FFAD9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57304" y="1221953"/>
            <a:ext cx="167432" cy="167432"/>
          </a:xfrm>
          <a:prstGeom prst="rect">
            <a:avLst/>
          </a:prstGeom>
        </p:spPr>
      </p:pic>
      <p:sp>
        <p:nvSpPr>
          <p:cNvPr id="11" name="Text 7"/>
          <p:cNvSpPr/>
          <p:nvPr/>
        </p:nvSpPr>
        <p:spPr>
          <a:xfrm>
            <a:off x="4754984" y="1600274"/>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Product Categories</a:t>
            </a:r>
            <a:endParaRPr lang="en-US" sz="1200" dirty="0"/>
          </a:p>
        </p:txBody>
      </p:sp>
      <p:sp>
        <p:nvSpPr>
          <p:cNvPr id="12" name="Text 8"/>
          <p:cNvSpPr/>
          <p:nvPr/>
        </p:nvSpPr>
        <p:spPr>
          <a:xfrm>
            <a:off x="4754984" y="1859235"/>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Identify top-performing product categories</a:t>
            </a:r>
            <a:endParaRPr lang="en-US" sz="950" dirty="0"/>
          </a:p>
        </p:txBody>
      </p:sp>
      <p:sp>
        <p:nvSpPr>
          <p:cNvPr id="13" name="Shape 9"/>
          <p:cNvSpPr/>
          <p:nvPr/>
        </p:nvSpPr>
        <p:spPr>
          <a:xfrm>
            <a:off x="434132" y="2282503"/>
            <a:ext cx="4083621" cy="1183035"/>
          </a:xfrm>
          <a:prstGeom prst="roundRect">
            <a:avLst>
              <a:gd name="adj" fmla="val 4404"/>
            </a:avLst>
          </a:prstGeom>
          <a:solidFill>
            <a:srgbClr val="FFD8CC"/>
          </a:solidFill>
          <a:ln w="4763">
            <a:solidFill>
              <a:srgbClr val="E5BEB2"/>
            </a:solidFill>
            <a:prstDash val="solid"/>
          </a:ln>
        </p:spPr>
      </p:sp>
      <p:sp>
        <p:nvSpPr>
          <p:cNvPr id="14" name="Shape 10"/>
          <p:cNvSpPr/>
          <p:nvPr/>
        </p:nvSpPr>
        <p:spPr>
          <a:xfrm>
            <a:off x="562868" y="2411239"/>
            <a:ext cx="372070" cy="372070"/>
          </a:xfrm>
          <a:prstGeom prst="roundRect">
            <a:avLst>
              <a:gd name="adj" fmla="val 15358477"/>
            </a:avLst>
          </a:prstGeom>
          <a:solidFill>
            <a:srgbClr val="FFAD9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187" y="2513484"/>
            <a:ext cx="167432" cy="167432"/>
          </a:xfrm>
          <a:prstGeom prst="rect">
            <a:avLst/>
          </a:prstGeom>
        </p:spPr>
      </p:pic>
      <p:sp>
        <p:nvSpPr>
          <p:cNvPr id="16" name="Text 11"/>
          <p:cNvSpPr/>
          <p:nvPr/>
        </p:nvSpPr>
        <p:spPr>
          <a:xfrm>
            <a:off x="562868" y="2891805"/>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Customer Loyalty</a:t>
            </a:r>
            <a:endParaRPr lang="en-US" sz="1200" dirty="0"/>
          </a:p>
        </p:txBody>
      </p:sp>
      <p:sp>
        <p:nvSpPr>
          <p:cNvPr id="17" name="Text 12"/>
          <p:cNvSpPr/>
          <p:nvPr/>
        </p:nvSpPr>
        <p:spPr>
          <a:xfrm>
            <a:off x="562868" y="3150766"/>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Evaluate subscription and loyalty behavior</a:t>
            </a:r>
            <a:endParaRPr lang="en-US" sz="950" dirty="0"/>
          </a:p>
        </p:txBody>
      </p:sp>
      <p:sp>
        <p:nvSpPr>
          <p:cNvPr id="18" name="Shape 13"/>
          <p:cNvSpPr/>
          <p:nvPr/>
        </p:nvSpPr>
        <p:spPr>
          <a:xfrm>
            <a:off x="4626248" y="2282503"/>
            <a:ext cx="4083621" cy="1183035"/>
          </a:xfrm>
          <a:prstGeom prst="roundRect">
            <a:avLst>
              <a:gd name="adj" fmla="val 4404"/>
            </a:avLst>
          </a:prstGeom>
          <a:solidFill>
            <a:srgbClr val="FFD8CC"/>
          </a:solidFill>
          <a:ln w="4763">
            <a:solidFill>
              <a:srgbClr val="E5BEB2"/>
            </a:solidFill>
            <a:prstDash val="solid"/>
          </a:ln>
        </p:spPr>
      </p:sp>
      <p:sp>
        <p:nvSpPr>
          <p:cNvPr id="19" name="Shape 14"/>
          <p:cNvSpPr/>
          <p:nvPr/>
        </p:nvSpPr>
        <p:spPr>
          <a:xfrm>
            <a:off x="4754984" y="2411239"/>
            <a:ext cx="372070" cy="372070"/>
          </a:xfrm>
          <a:prstGeom prst="roundRect">
            <a:avLst>
              <a:gd name="adj" fmla="val 15358477"/>
            </a:avLst>
          </a:prstGeom>
          <a:solidFill>
            <a:srgbClr val="FFAD94"/>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57304" y="2513484"/>
            <a:ext cx="167432" cy="167432"/>
          </a:xfrm>
          <a:prstGeom prst="rect">
            <a:avLst/>
          </a:prstGeom>
        </p:spPr>
      </p:pic>
      <p:sp>
        <p:nvSpPr>
          <p:cNvPr id="21" name="Text 15"/>
          <p:cNvSpPr/>
          <p:nvPr/>
        </p:nvSpPr>
        <p:spPr>
          <a:xfrm>
            <a:off x="4754984" y="2891805"/>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Seasonal Patterns</a:t>
            </a:r>
            <a:endParaRPr lang="en-US" sz="1200" dirty="0"/>
          </a:p>
        </p:txBody>
      </p:sp>
      <p:sp>
        <p:nvSpPr>
          <p:cNvPr id="22" name="Text 16"/>
          <p:cNvSpPr/>
          <p:nvPr/>
        </p:nvSpPr>
        <p:spPr>
          <a:xfrm>
            <a:off x="4754984" y="3150766"/>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Study seasonal purchasing trends</a:t>
            </a:r>
            <a:endParaRPr lang="en-US" sz="950" dirty="0"/>
          </a:p>
        </p:txBody>
      </p:sp>
      <p:sp>
        <p:nvSpPr>
          <p:cNvPr id="23" name="Shape 17"/>
          <p:cNvSpPr/>
          <p:nvPr/>
        </p:nvSpPr>
        <p:spPr>
          <a:xfrm>
            <a:off x="434132" y="3574033"/>
            <a:ext cx="4083621" cy="1183035"/>
          </a:xfrm>
          <a:prstGeom prst="roundRect">
            <a:avLst>
              <a:gd name="adj" fmla="val 4404"/>
            </a:avLst>
          </a:prstGeom>
          <a:solidFill>
            <a:srgbClr val="FFD8CC"/>
          </a:solidFill>
          <a:ln w="4763">
            <a:solidFill>
              <a:srgbClr val="E5BEB2"/>
            </a:solidFill>
            <a:prstDash val="solid"/>
          </a:ln>
        </p:spPr>
      </p:sp>
      <p:sp>
        <p:nvSpPr>
          <p:cNvPr id="24" name="Shape 18"/>
          <p:cNvSpPr/>
          <p:nvPr/>
        </p:nvSpPr>
        <p:spPr>
          <a:xfrm>
            <a:off x="562868" y="3702769"/>
            <a:ext cx="372070" cy="372070"/>
          </a:xfrm>
          <a:prstGeom prst="roundRect">
            <a:avLst>
              <a:gd name="adj" fmla="val 15358477"/>
            </a:avLst>
          </a:prstGeom>
          <a:solidFill>
            <a:srgbClr val="FFAD94"/>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5187" y="3805014"/>
            <a:ext cx="167432" cy="167432"/>
          </a:xfrm>
          <a:prstGeom prst="rect">
            <a:avLst/>
          </a:prstGeom>
        </p:spPr>
      </p:pic>
      <p:sp>
        <p:nvSpPr>
          <p:cNvPr id="26" name="Text 19"/>
          <p:cNvSpPr/>
          <p:nvPr/>
        </p:nvSpPr>
        <p:spPr>
          <a:xfrm>
            <a:off x="562868" y="4183335"/>
            <a:ext cx="1550566"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Promotion Impact</a:t>
            </a:r>
            <a:endParaRPr lang="en-US" sz="1200" dirty="0"/>
          </a:p>
        </p:txBody>
      </p:sp>
      <p:sp>
        <p:nvSpPr>
          <p:cNvPr id="27" name="Text 20"/>
          <p:cNvSpPr/>
          <p:nvPr/>
        </p:nvSpPr>
        <p:spPr>
          <a:xfrm>
            <a:off x="562868" y="4442296"/>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Measure discount and promotion effectiveness</a:t>
            </a:r>
            <a:endParaRPr lang="en-US" sz="950" dirty="0"/>
          </a:p>
        </p:txBody>
      </p:sp>
      <p:sp>
        <p:nvSpPr>
          <p:cNvPr id="28" name="Shape 21"/>
          <p:cNvSpPr/>
          <p:nvPr/>
        </p:nvSpPr>
        <p:spPr>
          <a:xfrm>
            <a:off x="4626248" y="3574033"/>
            <a:ext cx="4083621" cy="1183035"/>
          </a:xfrm>
          <a:prstGeom prst="roundRect">
            <a:avLst>
              <a:gd name="adj" fmla="val 4404"/>
            </a:avLst>
          </a:prstGeom>
          <a:solidFill>
            <a:srgbClr val="FFD8CC"/>
          </a:solidFill>
          <a:ln w="4763">
            <a:solidFill>
              <a:srgbClr val="E5BEB2"/>
            </a:solidFill>
            <a:prstDash val="solid"/>
          </a:ln>
        </p:spPr>
      </p:sp>
      <p:sp>
        <p:nvSpPr>
          <p:cNvPr id="29" name="Shape 22"/>
          <p:cNvSpPr/>
          <p:nvPr/>
        </p:nvSpPr>
        <p:spPr>
          <a:xfrm>
            <a:off x="4754984" y="3702769"/>
            <a:ext cx="372070" cy="372070"/>
          </a:xfrm>
          <a:prstGeom prst="roundRect">
            <a:avLst>
              <a:gd name="adj" fmla="val 15358477"/>
            </a:avLst>
          </a:prstGeom>
          <a:solidFill>
            <a:srgbClr val="FFAD94"/>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57304" y="3805014"/>
            <a:ext cx="167432" cy="167432"/>
          </a:xfrm>
          <a:prstGeom prst="rect">
            <a:avLst/>
          </a:prstGeom>
        </p:spPr>
      </p:pic>
      <p:sp>
        <p:nvSpPr>
          <p:cNvPr id="31" name="Text 23"/>
          <p:cNvSpPr/>
          <p:nvPr/>
        </p:nvSpPr>
        <p:spPr>
          <a:xfrm>
            <a:off x="4754984" y="4183335"/>
            <a:ext cx="1694334" cy="193849"/>
          </a:xfrm>
          <a:prstGeom prst="rect">
            <a:avLst/>
          </a:prstGeom>
          <a:noFill/>
          <a:ln/>
        </p:spPr>
        <p:txBody>
          <a:bodyPr wrap="none" lIns="0" tIns="0" rIns="0" bIns="0" rtlCol="0" anchor="t"/>
          <a:lstStyle/>
          <a:p>
            <a:pPr algn="l" indent="0" marL="0">
              <a:lnSpc>
                <a:spcPts val="1500"/>
              </a:lnSpc>
              <a:buNone/>
            </a:pPr>
            <a:r>
              <a:rPr lang="en-US" sz="1200" b="1" dirty="0">
                <a:solidFill>
                  <a:srgbClr val="403C4E"/>
                </a:solidFill>
                <a:latin typeface="Merriweather Bold" pitchFamily="34" charset="0"/>
                <a:ea typeface="Merriweather Bold" pitchFamily="34" charset="-122"/>
                <a:cs typeface="Merriweather Bold" pitchFamily="34" charset="-120"/>
              </a:rPr>
              <a:t>Interactive Dashboard</a:t>
            </a:r>
            <a:endParaRPr lang="en-US" sz="1200" dirty="0"/>
          </a:p>
        </p:txBody>
      </p:sp>
      <p:sp>
        <p:nvSpPr>
          <p:cNvPr id="32" name="Text 24"/>
          <p:cNvSpPr/>
          <p:nvPr/>
        </p:nvSpPr>
        <p:spPr>
          <a:xfrm>
            <a:off x="4754984" y="4442296"/>
            <a:ext cx="3826148" cy="186035"/>
          </a:xfrm>
          <a:prstGeom prst="rect">
            <a:avLst/>
          </a:prstGeom>
          <a:noFill/>
          <a:ln/>
        </p:spPr>
        <p:txBody>
          <a:bodyPr wrap="none" lIns="0" tIns="0" rIns="0" bIns="0" rtlCol="0" anchor="t"/>
          <a:lstStyle/>
          <a:p>
            <a:pPr algn="l" indent="0" marL="0">
              <a:lnSpc>
                <a:spcPts val="1450"/>
              </a:lnSpc>
              <a:buNone/>
            </a:pPr>
            <a:r>
              <a:rPr lang="en-US" sz="950" dirty="0">
                <a:solidFill>
                  <a:srgbClr val="403C4E"/>
                </a:solidFill>
                <a:latin typeface="Open Sans" pitchFamily="34" charset="0"/>
                <a:ea typeface="Open Sans" pitchFamily="34" charset="-122"/>
                <a:cs typeface="Open Sans" pitchFamily="34" charset="-120"/>
              </a:rPr>
              <a:t>Build Power BI dashboard for decision-making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870871" y="394022"/>
            <a:ext cx="3156496" cy="394543"/>
          </a:xfrm>
          <a:prstGeom prst="rect">
            <a:avLst/>
          </a:prstGeom>
          <a:noFill/>
          <a:ln/>
        </p:spPr>
        <p:txBody>
          <a:bodyPr wrap="none" lIns="0" tIns="0" rIns="0" bIns="0" rtlCol="0" anchor="t"/>
          <a:lstStyle/>
          <a:p>
            <a:pPr algn="l" indent="0" marL="0">
              <a:lnSpc>
                <a:spcPts val="3100"/>
              </a:lnSpc>
              <a:buNone/>
            </a:pPr>
            <a:r>
              <a:rPr lang="en-US" sz="2450" b="1" dirty="0">
                <a:solidFill>
                  <a:srgbClr val="403C4E"/>
                </a:solidFill>
                <a:latin typeface="Merriweather Bold" pitchFamily="34" charset="0"/>
                <a:ea typeface="Merriweather Bold" pitchFamily="34" charset="-122"/>
                <a:cs typeface="Merriweather Bold" pitchFamily="34" charset="-120"/>
              </a:rPr>
              <a:t>Dataset Overview</a:t>
            </a:r>
            <a:endParaRPr lang="en-US" sz="2450" dirty="0"/>
          </a:p>
        </p:txBody>
      </p:sp>
      <p:sp>
        <p:nvSpPr>
          <p:cNvPr id="4" name="Text 1"/>
          <p:cNvSpPr/>
          <p:nvPr/>
        </p:nvSpPr>
        <p:spPr>
          <a:xfrm>
            <a:off x="3870871" y="957188"/>
            <a:ext cx="4831259" cy="381893"/>
          </a:xfrm>
          <a:prstGeom prst="rect">
            <a:avLst/>
          </a:prstGeom>
          <a:noFill/>
          <a:ln/>
        </p:spPr>
        <p:txBody>
          <a:bodyPr wrap="square" lIns="0" tIns="0" rIns="0" bIns="0" rtlCol="0" anchor="t"/>
          <a:lstStyle/>
          <a:p>
            <a:pPr algn="l" indent="0" marL="0">
              <a:lnSpc>
                <a:spcPts val="1500"/>
              </a:lnSpc>
              <a:buNone/>
            </a:pPr>
            <a:r>
              <a:rPr lang="en-US" sz="950" dirty="0">
                <a:solidFill>
                  <a:srgbClr val="403C4E"/>
                </a:solidFill>
                <a:latin typeface="Open Sans" pitchFamily="34" charset="0"/>
                <a:ea typeface="Open Sans" pitchFamily="34" charset="-122"/>
                <a:cs typeface="Open Sans" pitchFamily="34" charset="-120"/>
              </a:rPr>
              <a:t>The dataset contains comprehensive retail transaction information with 15 key attributes for analysis.</a:t>
            </a:r>
            <a:endParaRPr lang="en-US" sz="950" dirty="0"/>
          </a:p>
        </p:txBody>
      </p:sp>
      <p:sp>
        <p:nvSpPr>
          <p:cNvPr id="5" name="Shape 2"/>
          <p:cNvSpPr/>
          <p:nvPr/>
        </p:nvSpPr>
        <p:spPr>
          <a:xfrm>
            <a:off x="3870871" y="1465585"/>
            <a:ext cx="4831259" cy="736625"/>
          </a:xfrm>
          <a:prstGeom prst="roundRect">
            <a:avLst>
              <a:gd name="adj" fmla="val 7199"/>
            </a:avLst>
          </a:prstGeom>
          <a:solidFill>
            <a:srgbClr val="FFFFFF"/>
          </a:solidFill>
          <a:ln w="14288">
            <a:solidFill>
              <a:srgbClr val="E5BEB2"/>
            </a:solidFill>
            <a:prstDash val="solid"/>
          </a:ln>
        </p:spPr>
      </p:sp>
      <p:sp>
        <p:nvSpPr>
          <p:cNvPr id="6" name="Text 3"/>
          <p:cNvSpPr/>
          <p:nvPr/>
        </p:nvSpPr>
        <p:spPr>
          <a:xfrm>
            <a:off x="4011364" y="1606079"/>
            <a:ext cx="1578248" cy="197272"/>
          </a:xfrm>
          <a:prstGeom prst="rect">
            <a:avLst/>
          </a:prstGeom>
          <a:noFill/>
          <a:ln/>
        </p:spPr>
        <p:txBody>
          <a:bodyPr wrap="none" lIns="0" tIns="0" rIns="0" bIns="0" rtlCol="0" anchor="t"/>
          <a:lstStyle/>
          <a:p>
            <a:pPr algn="l" indent="0" marL="0">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Customer Profile</a:t>
            </a:r>
            <a:endParaRPr lang="en-US" sz="1200" dirty="0"/>
          </a:p>
        </p:txBody>
      </p:sp>
      <p:sp>
        <p:nvSpPr>
          <p:cNvPr id="7" name="Text 4"/>
          <p:cNvSpPr/>
          <p:nvPr/>
        </p:nvSpPr>
        <p:spPr>
          <a:xfrm>
            <a:off x="4011364" y="1870770"/>
            <a:ext cx="4550271" cy="190946"/>
          </a:xfrm>
          <a:prstGeom prst="rect">
            <a:avLst/>
          </a:prstGeom>
          <a:noFill/>
          <a:ln/>
        </p:spPr>
        <p:txBody>
          <a:bodyPr wrap="none" lIns="0" tIns="0" rIns="0" bIns="0" rtlCol="0" anchor="t"/>
          <a:lstStyle/>
          <a:p>
            <a:pPr algn="l" indent="0" marL="0">
              <a:lnSpc>
                <a:spcPts val="1500"/>
              </a:lnSpc>
              <a:buNone/>
            </a:pPr>
            <a:r>
              <a:rPr lang="en-US" sz="950" dirty="0">
                <a:solidFill>
                  <a:srgbClr val="403C4E"/>
                </a:solidFill>
                <a:latin typeface="Open Sans" pitchFamily="34" charset="0"/>
                <a:ea typeface="Open Sans" pitchFamily="34" charset="-122"/>
                <a:cs typeface="Open Sans" pitchFamily="34" charset="-120"/>
              </a:rPr>
              <a:t>Customer ID, Age, Gender, Location</a:t>
            </a:r>
            <a:endParaRPr lang="en-US" sz="950" dirty="0"/>
          </a:p>
        </p:txBody>
      </p:sp>
      <p:sp>
        <p:nvSpPr>
          <p:cNvPr id="8" name="Shape 5"/>
          <p:cNvSpPr/>
          <p:nvPr/>
        </p:nvSpPr>
        <p:spPr>
          <a:xfrm>
            <a:off x="3870871" y="2314649"/>
            <a:ext cx="4831259" cy="736625"/>
          </a:xfrm>
          <a:prstGeom prst="roundRect">
            <a:avLst>
              <a:gd name="adj" fmla="val 7199"/>
            </a:avLst>
          </a:prstGeom>
          <a:solidFill>
            <a:srgbClr val="FFFFFF"/>
          </a:solidFill>
          <a:ln w="14288">
            <a:solidFill>
              <a:srgbClr val="E5BEB2"/>
            </a:solidFill>
            <a:prstDash val="solid"/>
          </a:ln>
        </p:spPr>
      </p:sp>
      <p:sp>
        <p:nvSpPr>
          <p:cNvPr id="9" name="Text 6"/>
          <p:cNvSpPr/>
          <p:nvPr/>
        </p:nvSpPr>
        <p:spPr>
          <a:xfrm>
            <a:off x="4011364" y="2455143"/>
            <a:ext cx="1578248" cy="197272"/>
          </a:xfrm>
          <a:prstGeom prst="rect">
            <a:avLst/>
          </a:prstGeom>
          <a:noFill/>
          <a:ln/>
        </p:spPr>
        <p:txBody>
          <a:bodyPr wrap="none" lIns="0" tIns="0" rIns="0" bIns="0" rtlCol="0" anchor="t"/>
          <a:lstStyle/>
          <a:p>
            <a:pPr algn="l" indent="0" marL="0">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Purchase Details</a:t>
            </a:r>
            <a:endParaRPr lang="en-US" sz="1200" dirty="0"/>
          </a:p>
        </p:txBody>
      </p:sp>
      <p:sp>
        <p:nvSpPr>
          <p:cNvPr id="10" name="Text 7"/>
          <p:cNvSpPr/>
          <p:nvPr/>
        </p:nvSpPr>
        <p:spPr>
          <a:xfrm>
            <a:off x="4011364" y="2719834"/>
            <a:ext cx="4550271" cy="190946"/>
          </a:xfrm>
          <a:prstGeom prst="rect">
            <a:avLst/>
          </a:prstGeom>
          <a:noFill/>
          <a:ln/>
        </p:spPr>
        <p:txBody>
          <a:bodyPr wrap="none" lIns="0" tIns="0" rIns="0" bIns="0" rtlCol="0" anchor="t"/>
          <a:lstStyle/>
          <a:p>
            <a:pPr algn="l" indent="0" marL="0">
              <a:lnSpc>
                <a:spcPts val="1500"/>
              </a:lnSpc>
              <a:buNone/>
            </a:pPr>
            <a:r>
              <a:rPr lang="en-US" sz="950" dirty="0">
                <a:solidFill>
                  <a:srgbClr val="403C4E"/>
                </a:solidFill>
                <a:latin typeface="Open Sans" pitchFamily="34" charset="0"/>
                <a:ea typeface="Open Sans" pitchFamily="34" charset="-122"/>
                <a:cs typeface="Open Sans" pitchFamily="34" charset="-120"/>
              </a:rPr>
              <a:t>Item Purchased, Category, Purchase Amount, Season</a:t>
            </a:r>
            <a:endParaRPr lang="en-US" sz="950" dirty="0"/>
          </a:p>
        </p:txBody>
      </p:sp>
      <p:sp>
        <p:nvSpPr>
          <p:cNvPr id="11" name="Shape 8"/>
          <p:cNvSpPr/>
          <p:nvPr/>
        </p:nvSpPr>
        <p:spPr>
          <a:xfrm>
            <a:off x="3870871" y="3163714"/>
            <a:ext cx="4831259" cy="736625"/>
          </a:xfrm>
          <a:prstGeom prst="roundRect">
            <a:avLst>
              <a:gd name="adj" fmla="val 7199"/>
            </a:avLst>
          </a:prstGeom>
          <a:solidFill>
            <a:srgbClr val="FFFFFF"/>
          </a:solidFill>
          <a:ln w="14288">
            <a:solidFill>
              <a:srgbClr val="E5BEB2"/>
            </a:solidFill>
            <a:prstDash val="solid"/>
          </a:ln>
        </p:spPr>
      </p:sp>
      <p:sp>
        <p:nvSpPr>
          <p:cNvPr id="12" name="Text 9"/>
          <p:cNvSpPr/>
          <p:nvPr/>
        </p:nvSpPr>
        <p:spPr>
          <a:xfrm>
            <a:off x="4011364" y="3304208"/>
            <a:ext cx="1578248" cy="197272"/>
          </a:xfrm>
          <a:prstGeom prst="rect">
            <a:avLst/>
          </a:prstGeom>
          <a:noFill/>
          <a:ln/>
        </p:spPr>
        <p:txBody>
          <a:bodyPr wrap="none" lIns="0" tIns="0" rIns="0" bIns="0" rtlCol="0" anchor="t"/>
          <a:lstStyle/>
          <a:p>
            <a:pPr algn="l" indent="0" marL="0">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Behavior Metrics</a:t>
            </a:r>
            <a:endParaRPr lang="en-US" sz="1200" dirty="0"/>
          </a:p>
        </p:txBody>
      </p:sp>
      <p:sp>
        <p:nvSpPr>
          <p:cNvPr id="13" name="Text 10"/>
          <p:cNvSpPr/>
          <p:nvPr/>
        </p:nvSpPr>
        <p:spPr>
          <a:xfrm>
            <a:off x="4011364" y="3568898"/>
            <a:ext cx="4550271" cy="190946"/>
          </a:xfrm>
          <a:prstGeom prst="rect">
            <a:avLst/>
          </a:prstGeom>
          <a:noFill/>
          <a:ln/>
        </p:spPr>
        <p:txBody>
          <a:bodyPr wrap="none" lIns="0" tIns="0" rIns="0" bIns="0" rtlCol="0" anchor="t"/>
          <a:lstStyle/>
          <a:p>
            <a:pPr algn="l" indent="0" marL="0">
              <a:lnSpc>
                <a:spcPts val="1500"/>
              </a:lnSpc>
              <a:buNone/>
            </a:pPr>
            <a:r>
              <a:rPr lang="en-US" sz="950" dirty="0">
                <a:solidFill>
                  <a:srgbClr val="403C4E"/>
                </a:solidFill>
                <a:latin typeface="Open Sans" pitchFamily="34" charset="0"/>
                <a:ea typeface="Open Sans" pitchFamily="34" charset="-122"/>
                <a:cs typeface="Open Sans" pitchFamily="34" charset="-120"/>
              </a:rPr>
              <a:t>Review Rating, Subscription Status, Frequency of Purchases</a:t>
            </a:r>
            <a:endParaRPr lang="en-US" sz="950" dirty="0"/>
          </a:p>
        </p:txBody>
      </p:sp>
      <p:sp>
        <p:nvSpPr>
          <p:cNvPr id="14" name="Shape 11"/>
          <p:cNvSpPr/>
          <p:nvPr/>
        </p:nvSpPr>
        <p:spPr>
          <a:xfrm>
            <a:off x="3870871" y="4012778"/>
            <a:ext cx="4831259" cy="736625"/>
          </a:xfrm>
          <a:prstGeom prst="roundRect">
            <a:avLst>
              <a:gd name="adj" fmla="val 7199"/>
            </a:avLst>
          </a:prstGeom>
          <a:solidFill>
            <a:srgbClr val="FFFFFF"/>
          </a:solidFill>
          <a:ln w="14288">
            <a:solidFill>
              <a:srgbClr val="E5BEB2"/>
            </a:solidFill>
            <a:prstDash val="solid"/>
          </a:ln>
        </p:spPr>
      </p:sp>
      <p:sp>
        <p:nvSpPr>
          <p:cNvPr id="15" name="Text 12"/>
          <p:cNvSpPr/>
          <p:nvPr/>
        </p:nvSpPr>
        <p:spPr>
          <a:xfrm>
            <a:off x="4011364" y="4153272"/>
            <a:ext cx="1578248" cy="197272"/>
          </a:xfrm>
          <a:prstGeom prst="rect">
            <a:avLst/>
          </a:prstGeom>
          <a:noFill/>
          <a:ln/>
        </p:spPr>
        <p:txBody>
          <a:bodyPr wrap="none" lIns="0" tIns="0" rIns="0" bIns="0" rtlCol="0" anchor="t"/>
          <a:lstStyle/>
          <a:p>
            <a:pPr algn="l" indent="0" marL="0">
              <a:lnSpc>
                <a:spcPts val="1550"/>
              </a:lnSpc>
              <a:buNone/>
            </a:pPr>
            <a:r>
              <a:rPr lang="en-US" sz="1200" b="1" dirty="0">
                <a:solidFill>
                  <a:srgbClr val="403C4E"/>
                </a:solidFill>
                <a:latin typeface="Merriweather Bold" pitchFamily="34" charset="0"/>
                <a:ea typeface="Merriweather Bold" pitchFamily="34" charset="-122"/>
                <a:cs typeface="Merriweather Bold" pitchFamily="34" charset="-120"/>
              </a:rPr>
              <a:t>Transaction Info</a:t>
            </a:r>
            <a:endParaRPr lang="en-US" sz="1200" dirty="0"/>
          </a:p>
        </p:txBody>
      </p:sp>
      <p:sp>
        <p:nvSpPr>
          <p:cNvPr id="16" name="Text 13"/>
          <p:cNvSpPr/>
          <p:nvPr/>
        </p:nvSpPr>
        <p:spPr>
          <a:xfrm>
            <a:off x="4011364" y="4417963"/>
            <a:ext cx="4550271" cy="190946"/>
          </a:xfrm>
          <a:prstGeom prst="rect">
            <a:avLst/>
          </a:prstGeom>
          <a:noFill/>
          <a:ln/>
        </p:spPr>
        <p:txBody>
          <a:bodyPr wrap="none" lIns="0" tIns="0" rIns="0" bIns="0" rtlCol="0" anchor="t"/>
          <a:lstStyle/>
          <a:p>
            <a:pPr algn="l" indent="0" marL="0">
              <a:lnSpc>
                <a:spcPts val="1500"/>
              </a:lnSpc>
              <a:buNone/>
            </a:pPr>
            <a:r>
              <a:rPr lang="en-US" sz="950" dirty="0">
                <a:solidFill>
                  <a:srgbClr val="403C4E"/>
                </a:solidFill>
                <a:latin typeface="Open Sans" pitchFamily="34" charset="0"/>
                <a:ea typeface="Open Sans" pitchFamily="34" charset="-122"/>
                <a:cs typeface="Open Sans" pitchFamily="34" charset="-120"/>
              </a:rPr>
              <a:t>Shipping Type, Discount Applied, Promo Code Used, Payment Method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515145" y="262458"/>
            <a:ext cx="2291432" cy="276895"/>
          </a:xfrm>
          <a:prstGeom prst="rect">
            <a:avLst/>
          </a:prstGeom>
          <a:noFill/>
          <a:ln/>
        </p:spPr>
        <p:txBody>
          <a:bodyPr wrap="none" lIns="0" tIns="0" rIns="0" bIns="0" rtlCol="0" anchor="t"/>
          <a:lstStyle/>
          <a:p>
            <a:pPr algn="l" indent="0" marL="0">
              <a:lnSpc>
                <a:spcPts val="2150"/>
              </a:lnSpc>
              <a:buNone/>
            </a:pPr>
            <a:r>
              <a:rPr lang="en-US" sz="1700" b="1" dirty="0">
                <a:solidFill>
                  <a:srgbClr val="403C4E"/>
                </a:solidFill>
                <a:latin typeface="Merriweather Bold" pitchFamily="34" charset="0"/>
                <a:ea typeface="Merriweather Bold" pitchFamily="34" charset="-122"/>
                <a:cs typeface="Merriweather Bold" pitchFamily="34" charset="-120"/>
              </a:rPr>
              <a:t>PySpark ELT Process</a:t>
            </a:r>
            <a:endParaRPr lang="en-US" sz="1700" dirty="0"/>
          </a:p>
        </p:txBody>
      </p:sp>
      <p:sp>
        <p:nvSpPr>
          <p:cNvPr id="3" name="Text 1"/>
          <p:cNvSpPr/>
          <p:nvPr/>
        </p:nvSpPr>
        <p:spPr>
          <a:xfrm>
            <a:off x="1515145" y="650081"/>
            <a:ext cx="6113711"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PySpark performed ELT operations on raw dataset before Power BI visualization.</a:t>
            </a:r>
            <a:endParaRPr lang="en-US" sz="650" dirty="0"/>
          </a:p>
        </p:txBody>
      </p:sp>
      <p:pic>
        <p:nvPicPr>
          <p:cNvPr id="4" name="Image 0" descr="preencoded.png">    </p:cNvPr>
          <p:cNvPicPr>
            <a:picLocks noChangeAspect="1"/>
          </p:cNvPicPr>
          <p:nvPr/>
        </p:nvPicPr>
        <p:blipFill>
          <a:blip r:embed="rId1"/>
          <a:stretch>
            <a:fillRect/>
          </a:stretch>
        </p:blipFill>
        <p:spPr>
          <a:xfrm>
            <a:off x="1515145" y="827559"/>
            <a:ext cx="265807" cy="714375"/>
          </a:xfrm>
          <a:prstGeom prst="rect">
            <a:avLst/>
          </a:prstGeom>
        </p:spPr>
      </p:pic>
      <p:sp>
        <p:nvSpPr>
          <p:cNvPr id="5" name="Text 2"/>
          <p:cNvSpPr/>
          <p:nvPr/>
        </p:nvSpPr>
        <p:spPr>
          <a:xfrm>
            <a:off x="1836316" y="916112"/>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Extract</a:t>
            </a:r>
            <a:endParaRPr lang="en-US" sz="850" dirty="0"/>
          </a:p>
        </p:txBody>
      </p:sp>
      <p:sp>
        <p:nvSpPr>
          <p:cNvPr id="6" name="Text 3"/>
          <p:cNvSpPr/>
          <p:nvPr/>
        </p:nvSpPr>
        <p:spPr>
          <a:xfrm>
            <a:off x="1836316" y="1087710"/>
            <a:ext cx="5792539"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Raw CSV dataset extraction</a:t>
            </a:r>
            <a:endParaRPr lang="en-US" sz="650" dirty="0"/>
          </a:p>
        </p:txBody>
      </p:sp>
      <p:pic>
        <p:nvPicPr>
          <p:cNvPr id="7" name="Image 1" descr="preencoded.png">    </p:cNvPr>
          <p:cNvPicPr>
            <a:picLocks noChangeAspect="1"/>
          </p:cNvPicPr>
          <p:nvPr/>
        </p:nvPicPr>
        <p:blipFill>
          <a:blip r:embed="rId2"/>
          <a:stretch>
            <a:fillRect/>
          </a:stretch>
        </p:blipFill>
        <p:spPr>
          <a:xfrm>
            <a:off x="1648048" y="1414537"/>
            <a:ext cx="265807" cy="714375"/>
          </a:xfrm>
          <a:prstGeom prst="rect">
            <a:avLst/>
          </a:prstGeom>
        </p:spPr>
      </p:pic>
      <p:sp>
        <p:nvSpPr>
          <p:cNvPr id="8" name="Text 4"/>
          <p:cNvSpPr/>
          <p:nvPr/>
        </p:nvSpPr>
        <p:spPr>
          <a:xfrm>
            <a:off x="1969219" y="1503090"/>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Load</a:t>
            </a:r>
            <a:endParaRPr lang="en-US" sz="850" dirty="0"/>
          </a:p>
        </p:txBody>
      </p:sp>
      <p:sp>
        <p:nvSpPr>
          <p:cNvPr id="9" name="Text 5"/>
          <p:cNvSpPr/>
          <p:nvPr/>
        </p:nvSpPr>
        <p:spPr>
          <a:xfrm>
            <a:off x="1969219" y="1674688"/>
            <a:ext cx="5659636"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Data loaded into PySpark DataFrame</a:t>
            </a:r>
            <a:endParaRPr lang="en-US" sz="650" dirty="0"/>
          </a:p>
        </p:txBody>
      </p:sp>
      <p:pic>
        <p:nvPicPr>
          <p:cNvPr id="10" name="Image 2" descr="preencoded.png">    </p:cNvPr>
          <p:cNvPicPr>
            <a:picLocks noChangeAspect="1"/>
          </p:cNvPicPr>
          <p:nvPr/>
        </p:nvPicPr>
        <p:blipFill>
          <a:blip r:embed="rId3"/>
          <a:stretch>
            <a:fillRect/>
          </a:stretch>
        </p:blipFill>
        <p:spPr>
          <a:xfrm>
            <a:off x="1780952" y="2001515"/>
            <a:ext cx="265807" cy="714375"/>
          </a:xfrm>
          <a:prstGeom prst="rect">
            <a:avLst/>
          </a:prstGeom>
        </p:spPr>
      </p:pic>
      <p:sp>
        <p:nvSpPr>
          <p:cNvPr id="11" name="Text 6"/>
          <p:cNvSpPr/>
          <p:nvPr/>
        </p:nvSpPr>
        <p:spPr>
          <a:xfrm>
            <a:off x="2102123" y="2090068"/>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Clean &amp; Transform</a:t>
            </a:r>
            <a:endParaRPr lang="en-US" sz="850" dirty="0"/>
          </a:p>
        </p:txBody>
      </p:sp>
      <p:sp>
        <p:nvSpPr>
          <p:cNvPr id="12" name="Text 7"/>
          <p:cNvSpPr/>
          <p:nvPr/>
        </p:nvSpPr>
        <p:spPr>
          <a:xfrm>
            <a:off x="2102123" y="2261667"/>
            <a:ext cx="5526732"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Data cleaning and transformation operations</a:t>
            </a:r>
            <a:endParaRPr lang="en-US" sz="650" dirty="0"/>
          </a:p>
        </p:txBody>
      </p:sp>
      <p:pic>
        <p:nvPicPr>
          <p:cNvPr id="13" name="Image 3" descr="preencoded.png">    </p:cNvPr>
          <p:cNvPicPr>
            <a:picLocks noChangeAspect="1"/>
          </p:cNvPicPr>
          <p:nvPr/>
        </p:nvPicPr>
        <p:blipFill>
          <a:blip r:embed="rId4"/>
          <a:stretch>
            <a:fillRect/>
          </a:stretch>
        </p:blipFill>
        <p:spPr>
          <a:xfrm>
            <a:off x="1913855" y="2588493"/>
            <a:ext cx="265807" cy="714375"/>
          </a:xfrm>
          <a:prstGeom prst="rect">
            <a:avLst/>
          </a:prstGeom>
        </p:spPr>
      </p:pic>
      <p:sp>
        <p:nvSpPr>
          <p:cNvPr id="14" name="Text 8"/>
          <p:cNvSpPr/>
          <p:nvPr/>
        </p:nvSpPr>
        <p:spPr>
          <a:xfrm>
            <a:off x="2235026" y="2677046"/>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Handle Nulls</a:t>
            </a:r>
            <a:endParaRPr lang="en-US" sz="850" dirty="0"/>
          </a:p>
        </p:txBody>
      </p:sp>
      <p:sp>
        <p:nvSpPr>
          <p:cNvPr id="15" name="Text 9"/>
          <p:cNvSpPr/>
          <p:nvPr/>
        </p:nvSpPr>
        <p:spPr>
          <a:xfrm>
            <a:off x="2235026" y="2848645"/>
            <a:ext cx="5393829"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Null values and datatype conversions</a:t>
            </a:r>
            <a:endParaRPr lang="en-US" sz="650" dirty="0"/>
          </a:p>
        </p:txBody>
      </p:sp>
      <p:pic>
        <p:nvPicPr>
          <p:cNvPr id="16" name="Image 4" descr="preencoded.png">    </p:cNvPr>
          <p:cNvPicPr>
            <a:picLocks noChangeAspect="1"/>
          </p:cNvPicPr>
          <p:nvPr/>
        </p:nvPicPr>
        <p:blipFill>
          <a:blip r:embed="rId5"/>
          <a:stretch>
            <a:fillRect/>
          </a:stretch>
        </p:blipFill>
        <p:spPr>
          <a:xfrm>
            <a:off x="1780952" y="3175471"/>
            <a:ext cx="265807" cy="714375"/>
          </a:xfrm>
          <a:prstGeom prst="rect">
            <a:avLst/>
          </a:prstGeom>
        </p:spPr>
      </p:pic>
      <p:sp>
        <p:nvSpPr>
          <p:cNvPr id="17" name="Text 10"/>
          <p:cNvSpPr/>
          <p:nvPr/>
        </p:nvSpPr>
        <p:spPr>
          <a:xfrm>
            <a:off x="2102123" y="3264024"/>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Standardize</a:t>
            </a:r>
            <a:endParaRPr lang="en-US" sz="850" dirty="0"/>
          </a:p>
        </p:txBody>
      </p:sp>
      <p:sp>
        <p:nvSpPr>
          <p:cNvPr id="18" name="Text 11"/>
          <p:cNvSpPr/>
          <p:nvPr/>
        </p:nvSpPr>
        <p:spPr>
          <a:xfrm>
            <a:off x="2102123" y="3435623"/>
            <a:ext cx="5526732"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Categorical values standardized</a:t>
            </a:r>
            <a:endParaRPr lang="en-US" sz="650" dirty="0"/>
          </a:p>
        </p:txBody>
      </p:sp>
      <p:pic>
        <p:nvPicPr>
          <p:cNvPr id="19" name="Image 5" descr="preencoded.png">    </p:cNvPr>
          <p:cNvPicPr>
            <a:picLocks noChangeAspect="1"/>
          </p:cNvPicPr>
          <p:nvPr/>
        </p:nvPicPr>
        <p:blipFill>
          <a:blip r:embed="rId6"/>
          <a:stretch>
            <a:fillRect/>
          </a:stretch>
        </p:blipFill>
        <p:spPr>
          <a:xfrm>
            <a:off x="1648048" y="3762449"/>
            <a:ext cx="265807" cy="714375"/>
          </a:xfrm>
          <a:prstGeom prst="rect">
            <a:avLst/>
          </a:prstGeom>
        </p:spPr>
      </p:pic>
      <p:sp>
        <p:nvSpPr>
          <p:cNvPr id="20" name="Text 12"/>
          <p:cNvSpPr/>
          <p:nvPr/>
        </p:nvSpPr>
        <p:spPr>
          <a:xfrm>
            <a:off x="1969219" y="3851002"/>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Prepare</a:t>
            </a:r>
            <a:endParaRPr lang="en-US" sz="850" dirty="0"/>
          </a:p>
        </p:txBody>
      </p:sp>
      <p:sp>
        <p:nvSpPr>
          <p:cNvPr id="21" name="Text 13"/>
          <p:cNvSpPr/>
          <p:nvPr/>
        </p:nvSpPr>
        <p:spPr>
          <a:xfrm>
            <a:off x="1969219" y="4022601"/>
            <a:ext cx="5659636"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Analytical dataset prepared for reporting</a:t>
            </a:r>
            <a:endParaRPr lang="en-US" sz="650" dirty="0"/>
          </a:p>
        </p:txBody>
      </p:sp>
      <p:pic>
        <p:nvPicPr>
          <p:cNvPr id="22" name="Image 6" descr="preencoded.png">    </p:cNvPr>
          <p:cNvPicPr>
            <a:picLocks noChangeAspect="1"/>
          </p:cNvPicPr>
          <p:nvPr/>
        </p:nvPicPr>
        <p:blipFill>
          <a:blip r:embed="rId7"/>
          <a:stretch>
            <a:fillRect/>
          </a:stretch>
        </p:blipFill>
        <p:spPr>
          <a:xfrm>
            <a:off x="1515145" y="4349428"/>
            <a:ext cx="265807" cy="714375"/>
          </a:xfrm>
          <a:prstGeom prst="rect">
            <a:avLst/>
          </a:prstGeom>
        </p:spPr>
      </p:pic>
      <p:sp>
        <p:nvSpPr>
          <p:cNvPr id="23" name="Text 14"/>
          <p:cNvSpPr/>
          <p:nvPr/>
        </p:nvSpPr>
        <p:spPr>
          <a:xfrm>
            <a:off x="1836316" y="4437980"/>
            <a:ext cx="1107504" cy="138410"/>
          </a:xfrm>
          <a:prstGeom prst="rect">
            <a:avLst/>
          </a:prstGeom>
          <a:noFill/>
          <a:ln/>
        </p:spPr>
        <p:txBody>
          <a:bodyPr wrap="none" lIns="0" tIns="0" rIns="0" bIns="0" rtlCol="0" anchor="t"/>
          <a:lstStyle/>
          <a:p>
            <a:pPr algn="l" indent="0" marL="0">
              <a:lnSpc>
                <a:spcPts val="1050"/>
              </a:lnSpc>
              <a:buNone/>
            </a:pPr>
            <a:r>
              <a:rPr lang="en-US" sz="850" b="1" dirty="0">
                <a:solidFill>
                  <a:srgbClr val="403C4E"/>
                </a:solidFill>
                <a:latin typeface="Merriweather Bold" pitchFamily="34" charset="0"/>
                <a:ea typeface="Merriweather Bold" pitchFamily="34" charset="-122"/>
                <a:cs typeface="Merriweather Bold" pitchFamily="34" charset="-120"/>
              </a:rPr>
              <a:t>Export</a:t>
            </a:r>
            <a:endParaRPr lang="en-US" sz="850" dirty="0"/>
          </a:p>
        </p:txBody>
      </p:sp>
      <p:sp>
        <p:nvSpPr>
          <p:cNvPr id="24" name="Text 15"/>
          <p:cNvSpPr/>
          <p:nvPr/>
        </p:nvSpPr>
        <p:spPr>
          <a:xfrm>
            <a:off x="1836316" y="4609579"/>
            <a:ext cx="5792539" cy="115193"/>
          </a:xfrm>
          <a:prstGeom prst="rect">
            <a:avLst/>
          </a:prstGeom>
          <a:noFill/>
          <a:ln/>
        </p:spPr>
        <p:txBody>
          <a:bodyPr wrap="none" lIns="0" tIns="0" rIns="0" bIns="0" rtlCol="0" anchor="t"/>
          <a:lstStyle/>
          <a:p>
            <a:pPr algn="l" indent="0" marL="0">
              <a:lnSpc>
                <a:spcPts val="900"/>
              </a:lnSpc>
              <a:buNone/>
            </a:pPr>
            <a:r>
              <a:rPr lang="en-US" sz="650" dirty="0">
                <a:solidFill>
                  <a:srgbClr val="403C4E"/>
                </a:solidFill>
                <a:latin typeface="Open Sans" pitchFamily="34" charset="0"/>
                <a:ea typeface="Open Sans" pitchFamily="34" charset="-122"/>
                <a:cs typeface="Open Sans" pitchFamily="34" charset="-120"/>
              </a:rPr>
              <a:t>Transformed data exported for Power BI</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08881"/>
            <a:ext cx="5968305"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Power BI Dashboard Development</a:t>
            </a:r>
            <a:endParaRPr lang="en-US" sz="2750" dirty="0"/>
          </a:p>
        </p:txBody>
      </p:sp>
      <p:sp>
        <p:nvSpPr>
          <p:cNvPr id="3" name="Text 1"/>
          <p:cNvSpPr/>
          <p:nvPr/>
        </p:nvSpPr>
        <p:spPr>
          <a:xfrm>
            <a:off x="496119" y="1592014"/>
            <a:ext cx="4752677" cy="680442"/>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The transformed dataset was imported into Power BI for dashboard development. Various interactive visualizations and KPIs were created to analyze customer behavior.</a:t>
            </a:r>
            <a:endParaRPr lang="en-US" sz="1100" dirty="0"/>
          </a:p>
        </p:txBody>
      </p:sp>
      <p:sp>
        <p:nvSpPr>
          <p:cNvPr id="4" name="Text 2"/>
          <p:cNvSpPr/>
          <p:nvPr/>
        </p:nvSpPr>
        <p:spPr>
          <a:xfrm>
            <a:off x="496119" y="2400002"/>
            <a:ext cx="4752677" cy="1885057"/>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Sales performance analysis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Customer demographics analysis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Seasonal trend analysis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Subscription behavior analysis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Discount and promotion analysis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Shipping and payment insights</a:t>
            </a:r>
            <a:endParaRPr lang="en-US" sz="1100" dirty="0"/>
          </a:p>
          <a:p>
            <a:pPr algn="l" marL="342900" indent="-342900">
              <a:lnSpc>
                <a:spcPts val="1750"/>
              </a:lnSpc>
              <a:buSzPct val="100000"/>
              <a:buChar char="•"/>
            </a:pPr>
            <a:r>
              <a:rPr lang="en-US" sz="1100" dirty="0">
                <a:solidFill>
                  <a:srgbClr val="403C4E"/>
                </a:solidFill>
                <a:latin typeface="Open Sans" pitchFamily="34" charset="0"/>
                <a:ea typeface="Open Sans" pitchFamily="34" charset="-122"/>
                <a:cs typeface="Open Sans" pitchFamily="34" charset="-120"/>
              </a:rPr>
              <a:t>Interactive filters and slicers</a:t>
            </a:r>
            <a:endParaRPr lang="en-US" sz="1100" dirty="0"/>
          </a:p>
        </p:txBody>
      </p:sp>
      <p:pic>
        <p:nvPicPr>
          <p:cNvPr id="5" name="Image 0" descr="preencoded.png">    </p:cNvPr>
          <p:cNvPicPr>
            <a:picLocks noChangeAspect="1"/>
          </p:cNvPicPr>
          <p:nvPr/>
        </p:nvPicPr>
        <p:blipFill>
          <a:blip r:embed="rId1"/>
          <a:stretch>
            <a:fillRect/>
          </a:stretch>
        </p:blipFill>
        <p:spPr>
          <a:xfrm>
            <a:off x="5599435" y="2034480"/>
            <a:ext cx="3053135" cy="17300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49610" y="362620"/>
            <a:ext cx="4413870" cy="401464"/>
          </a:xfrm>
          <a:prstGeom prst="rect">
            <a:avLst/>
          </a:prstGeom>
          <a:noFill/>
          <a:ln/>
        </p:spPr>
        <p:txBody>
          <a:bodyPr wrap="none" lIns="0" tIns="0" rIns="0" bIns="0" rtlCol="0" anchor="t"/>
          <a:lstStyle/>
          <a:p>
            <a:pPr algn="l" indent="0" marL="0">
              <a:lnSpc>
                <a:spcPts val="3150"/>
              </a:lnSpc>
              <a:buNone/>
            </a:pPr>
            <a:r>
              <a:rPr lang="en-US" sz="2500" b="1" dirty="0">
                <a:solidFill>
                  <a:srgbClr val="403C4E"/>
                </a:solidFill>
                <a:latin typeface="Merriweather Bold" pitchFamily="34" charset="0"/>
                <a:ea typeface="Merriweather Bold" pitchFamily="34" charset="-122"/>
                <a:cs typeface="Merriweather Bold" pitchFamily="34" charset="-120"/>
              </a:rPr>
              <a:t>Key Performance Indicators</a:t>
            </a:r>
            <a:endParaRPr lang="en-US" sz="2500" dirty="0"/>
          </a:p>
        </p:txBody>
      </p:sp>
      <p:sp>
        <p:nvSpPr>
          <p:cNvPr id="3" name="Text 1"/>
          <p:cNvSpPr/>
          <p:nvPr/>
        </p:nvSpPr>
        <p:spPr>
          <a:xfrm>
            <a:off x="449610" y="1061145"/>
            <a:ext cx="4049613"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$236k</a:t>
            </a:r>
            <a:endParaRPr lang="en-US" sz="3300" dirty="0"/>
          </a:p>
        </p:txBody>
      </p:sp>
      <p:sp>
        <p:nvSpPr>
          <p:cNvPr id="4" name="Text 2"/>
          <p:cNvSpPr/>
          <p:nvPr/>
        </p:nvSpPr>
        <p:spPr>
          <a:xfrm>
            <a:off x="1671414" y="1636588"/>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Total Revenue</a:t>
            </a:r>
            <a:endParaRPr lang="en-US" sz="1250" dirty="0"/>
          </a:p>
        </p:txBody>
      </p:sp>
      <p:sp>
        <p:nvSpPr>
          <p:cNvPr id="5" name="Text 3"/>
          <p:cNvSpPr/>
          <p:nvPr/>
        </p:nvSpPr>
        <p:spPr>
          <a:xfrm>
            <a:off x="449610" y="1907084"/>
            <a:ext cx="4049613"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Total sales generated</a:t>
            </a:r>
            <a:endParaRPr lang="en-US" sz="1000" dirty="0"/>
          </a:p>
        </p:txBody>
      </p:sp>
      <p:sp>
        <p:nvSpPr>
          <p:cNvPr id="6" name="Text 4"/>
          <p:cNvSpPr/>
          <p:nvPr/>
        </p:nvSpPr>
        <p:spPr>
          <a:xfrm>
            <a:off x="4644703" y="1061145"/>
            <a:ext cx="4049688"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$59.76</a:t>
            </a:r>
            <a:endParaRPr lang="en-US" sz="3300" dirty="0"/>
          </a:p>
        </p:txBody>
      </p:sp>
      <p:sp>
        <p:nvSpPr>
          <p:cNvPr id="7" name="Text 5"/>
          <p:cNvSpPr/>
          <p:nvPr/>
        </p:nvSpPr>
        <p:spPr>
          <a:xfrm>
            <a:off x="5866581" y="1636588"/>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Average Purchase</a:t>
            </a:r>
            <a:endParaRPr lang="en-US" sz="1250" dirty="0"/>
          </a:p>
        </p:txBody>
      </p:sp>
      <p:sp>
        <p:nvSpPr>
          <p:cNvPr id="8" name="Text 6"/>
          <p:cNvSpPr/>
          <p:nvPr/>
        </p:nvSpPr>
        <p:spPr>
          <a:xfrm>
            <a:off x="4644703" y="1907084"/>
            <a:ext cx="4049688"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Average transaction value</a:t>
            </a:r>
            <a:endParaRPr lang="en-US" sz="1000" dirty="0"/>
          </a:p>
        </p:txBody>
      </p:sp>
      <p:sp>
        <p:nvSpPr>
          <p:cNvPr id="9" name="Text 7"/>
          <p:cNvSpPr/>
          <p:nvPr/>
        </p:nvSpPr>
        <p:spPr>
          <a:xfrm>
            <a:off x="449610" y="2400077"/>
            <a:ext cx="4049613"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3.9k</a:t>
            </a:r>
            <a:endParaRPr lang="en-US" sz="3300" dirty="0"/>
          </a:p>
        </p:txBody>
      </p:sp>
      <p:sp>
        <p:nvSpPr>
          <p:cNvPr id="10" name="Text 8"/>
          <p:cNvSpPr/>
          <p:nvPr/>
        </p:nvSpPr>
        <p:spPr>
          <a:xfrm>
            <a:off x="1671414" y="2975521"/>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Total Customers</a:t>
            </a:r>
            <a:endParaRPr lang="en-US" sz="1250" dirty="0"/>
          </a:p>
        </p:txBody>
      </p:sp>
      <p:sp>
        <p:nvSpPr>
          <p:cNvPr id="11" name="Text 9"/>
          <p:cNvSpPr/>
          <p:nvPr/>
        </p:nvSpPr>
        <p:spPr>
          <a:xfrm>
            <a:off x="449610" y="3246016"/>
            <a:ext cx="4049613"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Unique customer count</a:t>
            </a:r>
            <a:endParaRPr lang="en-US" sz="1000" dirty="0"/>
          </a:p>
        </p:txBody>
      </p:sp>
      <p:sp>
        <p:nvSpPr>
          <p:cNvPr id="12" name="Text 10"/>
          <p:cNvSpPr/>
          <p:nvPr/>
        </p:nvSpPr>
        <p:spPr>
          <a:xfrm>
            <a:off x="4644703" y="2400077"/>
            <a:ext cx="4049688"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3.75</a:t>
            </a:r>
            <a:endParaRPr lang="en-US" sz="3300" dirty="0"/>
          </a:p>
        </p:txBody>
      </p:sp>
      <p:sp>
        <p:nvSpPr>
          <p:cNvPr id="13" name="Text 11"/>
          <p:cNvSpPr/>
          <p:nvPr/>
        </p:nvSpPr>
        <p:spPr>
          <a:xfrm>
            <a:off x="5866581" y="2975521"/>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Average Review</a:t>
            </a:r>
            <a:endParaRPr lang="en-US" sz="1250" dirty="0"/>
          </a:p>
        </p:txBody>
      </p:sp>
      <p:sp>
        <p:nvSpPr>
          <p:cNvPr id="14" name="Text 12"/>
          <p:cNvSpPr/>
          <p:nvPr/>
        </p:nvSpPr>
        <p:spPr>
          <a:xfrm>
            <a:off x="4644703" y="3246016"/>
            <a:ext cx="4049688"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Customer satisfaction analysis</a:t>
            </a:r>
            <a:endParaRPr lang="en-US" sz="1000" dirty="0"/>
          </a:p>
        </p:txBody>
      </p:sp>
      <p:sp>
        <p:nvSpPr>
          <p:cNvPr id="15" name="Text 13"/>
          <p:cNvSpPr/>
          <p:nvPr/>
        </p:nvSpPr>
        <p:spPr>
          <a:xfrm>
            <a:off x="449610" y="3739009"/>
            <a:ext cx="4049613"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27%</a:t>
            </a:r>
            <a:endParaRPr lang="en-US" sz="3300" dirty="0"/>
          </a:p>
        </p:txBody>
      </p:sp>
      <p:sp>
        <p:nvSpPr>
          <p:cNvPr id="16" name="Text 14"/>
          <p:cNvSpPr/>
          <p:nvPr/>
        </p:nvSpPr>
        <p:spPr>
          <a:xfrm>
            <a:off x="1671414" y="4314453"/>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Subscription Rate</a:t>
            </a:r>
            <a:endParaRPr lang="en-US" sz="1250" dirty="0"/>
          </a:p>
        </p:txBody>
      </p:sp>
      <p:sp>
        <p:nvSpPr>
          <p:cNvPr id="17" name="Text 15"/>
          <p:cNvSpPr/>
          <p:nvPr/>
        </p:nvSpPr>
        <p:spPr>
          <a:xfrm>
            <a:off x="449610" y="4584948"/>
            <a:ext cx="4049613"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Subscribed customer percentage</a:t>
            </a:r>
            <a:endParaRPr lang="en-US" sz="1000" dirty="0"/>
          </a:p>
        </p:txBody>
      </p:sp>
      <p:sp>
        <p:nvSpPr>
          <p:cNvPr id="18" name="Text 16"/>
          <p:cNvSpPr/>
          <p:nvPr/>
        </p:nvSpPr>
        <p:spPr>
          <a:xfrm>
            <a:off x="4644703" y="3739009"/>
            <a:ext cx="4049688" cy="423937"/>
          </a:xfrm>
          <a:prstGeom prst="rect">
            <a:avLst/>
          </a:prstGeom>
          <a:noFill/>
          <a:ln/>
        </p:spPr>
        <p:txBody>
          <a:bodyPr wrap="none" lIns="0" tIns="0" rIns="0" bIns="0" rtlCol="0" anchor="t"/>
          <a:lstStyle/>
          <a:p>
            <a:pPr algn="ctr" indent="0" marL="0">
              <a:lnSpc>
                <a:spcPts val="3300"/>
              </a:lnSpc>
              <a:buNone/>
            </a:pPr>
            <a:r>
              <a:rPr lang="en-US" sz="3300" b="1" dirty="0">
                <a:solidFill>
                  <a:srgbClr val="403C4E"/>
                </a:solidFill>
                <a:latin typeface="Merriweather Bold" pitchFamily="34" charset="0"/>
                <a:ea typeface="Merriweather Bold" pitchFamily="34" charset="-122"/>
                <a:cs typeface="Merriweather Bold" pitchFamily="34" charset="-120"/>
              </a:rPr>
              <a:t>42.8%</a:t>
            </a:r>
            <a:endParaRPr lang="en-US" sz="3300" dirty="0"/>
          </a:p>
        </p:txBody>
      </p:sp>
      <p:sp>
        <p:nvSpPr>
          <p:cNvPr id="19" name="Text 17"/>
          <p:cNvSpPr/>
          <p:nvPr/>
        </p:nvSpPr>
        <p:spPr>
          <a:xfrm>
            <a:off x="5866581" y="4314453"/>
            <a:ext cx="1605930" cy="200695"/>
          </a:xfrm>
          <a:prstGeom prst="rect">
            <a:avLst/>
          </a:prstGeom>
          <a:noFill/>
          <a:ln/>
        </p:spPr>
        <p:txBody>
          <a:bodyPr wrap="none" lIns="0" tIns="0" rIns="0" bIns="0" rtlCol="0" anchor="t"/>
          <a:lstStyle/>
          <a:p>
            <a:pPr algn="ctr" indent="0" marL="0">
              <a:lnSpc>
                <a:spcPts val="1550"/>
              </a:lnSpc>
              <a:buNone/>
            </a:pPr>
            <a:r>
              <a:rPr lang="en-US" sz="1250" b="1" dirty="0">
                <a:solidFill>
                  <a:srgbClr val="403C4E"/>
                </a:solidFill>
                <a:latin typeface="Merriweather Bold" pitchFamily="34" charset="0"/>
                <a:ea typeface="Merriweather Bold" pitchFamily="34" charset="-122"/>
                <a:cs typeface="Merriweather Bold" pitchFamily="34" charset="-120"/>
              </a:rPr>
              <a:t>Discount Usage</a:t>
            </a:r>
            <a:endParaRPr lang="en-US" sz="1250" dirty="0"/>
          </a:p>
        </p:txBody>
      </p:sp>
      <p:sp>
        <p:nvSpPr>
          <p:cNvPr id="20" name="Text 18"/>
          <p:cNvSpPr/>
          <p:nvPr/>
        </p:nvSpPr>
        <p:spPr>
          <a:xfrm>
            <a:off x="4644703" y="4584948"/>
            <a:ext cx="4049688" cy="195932"/>
          </a:xfrm>
          <a:prstGeom prst="rect">
            <a:avLst/>
          </a:prstGeom>
          <a:noFill/>
          <a:ln/>
        </p:spPr>
        <p:txBody>
          <a:bodyPr wrap="none" lIns="0" tIns="0" rIns="0" bIns="0" rtlCol="0" anchor="t"/>
          <a:lstStyle/>
          <a:p>
            <a:pPr algn="ctr" indent="0" marL="0">
              <a:lnSpc>
                <a:spcPts val="1500"/>
              </a:lnSpc>
              <a:buNone/>
            </a:pPr>
            <a:r>
              <a:rPr lang="en-US" sz="1000" dirty="0">
                <a:solidFill>
                  <a:srgbClr val="403C4E"/>
                </a:solidFill>
                <a:latin typeface="Open Sans" pitchFamily="34" charset="0"/>
                <a:ea typeface="Open Sans" pitchFamily="34" charset="-122"/>
                <a:cs typeface="Open Sans" pitchFamily="34" charset="-120"/>
              </a:rPr>
              <a:t>Promotion effectiveness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942454"/>
            <a:ext cx="3544119"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Business Insights</a:t>
            </a:r>
            <a:endParaRPr lang="en-US" sz="2750" dirty="0"/>
          </a:p>
        </p:txBody>
      </p:sp>
      <p:sp>
        <p:nvSpPr>
          <p:cNvPr id="3" name="Shape 1"/>
          <p:cNvSpPr/>
          <p:nvPr/>
        </p:nvSpPr>
        <p:spPr>
          <a:xfrm>
            <a:off x="496119" y="1668959"/>
            <a:ext cx="2622724" cy="1308571"/>
          </a:xfrm>
          <a:prstGeom prst="roundRect">
            <a:avLst>
              <a:gd name="adj" fmla="val 6988"/>
            </a:avLst>
          </a:prstGeom>
          <a:solidFill>
            <a:srgbClr val="FFFFFF"/>
          </a:solidFill>
          <a:ln w="19050">
            <a:solidFill>
              <a:srgbClr val="E5BEB2"/>
            </a:solidFill>
            <a:prstDash val="solid"/>
          </a:ln>
        </p:spPr>
      </p:sp>
      <p:sp>
        <p:nvSpPr>
          <p:cNvPr id="4" name="Shape 2"/>
          <p:cNvSpPr/>
          <p:nvPr/>
        </p:nvSpPr>
        <p:spPr>
          <a:xfrm>
            <a:off x="477069" y="1668959"/>
            <a:ext cx="76200" cy="1308571"/>
          </a:xfrm>
          <a:prstGeom prst="roundRect">
            <a:avLst>
              <a:gd name="adj" fmla="val 78140"/>
            </a:avLst>
          </a:prstGeom>
          <a:solidFill>
            <a:srgbClr val="FFAD94"/>
          </a:solidFill>
          <a:ln/>
        </p:spPr>
      </p:sp>
      <p:sp>
        <p:nvSpPr>
          <p:cNvPr id="5" name="Text 3"/>
          <p:cNvSpPr/>
          <p:nvPr/>
        </p:nvSpPr>
        <p:spPr>
          <a:xfrm>
            <a:off x="714077" y="1829767"/>
            <a:ext cx="1826791"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Revenue by Category</a:t>
            </a:r>
            <a:endParaRPr lang="en-US" sz="1350" dirty="0"/>
          </a:p>
        </p:txBody>
      </p:sp>
      <p:sp>
        <p:nvSpPr>
          <p:cNvPr id="6" name="Text 4"/>
          <p:cNvSpPr/>
          <p:nvPr/>
        </p:nvSpPr>
        <p:spPr>
          <a:xfrm>
            <a:off x="714077" y="2136279"/>
            <a:ext cx="2243956" cy="680442"/>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Certain product categories generated significantly higher revenue.</a:t>
            </a:r>
            <a:endParaRPr lang="en-US" sz="1100" dirty="0"/>
          </a:p>
        </p:txBody>
      </p:sp>
      <p:sp>
        <p:nvSpPr>
          <p:cNvPr id="7" name="Shape 5"/>
          <p:cNvSpPr/>
          <p:nvPr/>
        </p:nvSpPr>
        <p:spPr>
          <a:xfrm>
            <a:off x="3260601" y="1668959"/>
            <a:ext cx="2622724" cy="1308571"/>
          </a:xfrm>
          <a:prstGeom prst="roundRect">
            <a:avLst>
              <a:gd name="adj" fmla="val 6988"/>
            </a:avLst>
          </a:prstGeom>
          <a:solidFill>
            <a:srgbClr val="FFFFFF"/>
          </a:solidFill>
          <a:ln w="19050">
            <a:solidFill>
              <a:srgbClr val="E5BEB2"/>
            </a:solidFill>
            <a:prstDash val="solid"/>
          </a:ln>
        </p:spPr>
      </p:sp>
      <p:sp>
        <p:nvSpPr>
          <p:cNvPr id="8" name="Shape 6"/>
          <p:cNvSpPr/>
          <p:nvPr/>
        </p:nvSpPr>
        <p:spPr>
          <a:xfrm>
            <a:off x="3241551" y="1668959"/>
            <a:ext cx="76200" cy="1308571"/>
          </a:xfrm>
          <a:prstGeom prst="roundRect">
            <a:avLst>
              <a:gd name="adj" fmla="val 78140"/>
            </a:avLst>
          </a:prstGeom>
          <a:solidFill>
            <a:srgbClr val="FFAD94"/>
          </a:solidFill>
          <a:ln/>
        </p:spPr>
      </p:sp>
      <p:sp>
        <p:nvSpPr>
          <p:cNvPr id="9" name="Text 7"/>
          <p:cNvSpPr/>
          <p:nvPr/>
        </p:nvSpPr>
        <p:spPr>
          <a:xfrm>
            <a:off x="3478560" y="1829767"/>
            <a:ext cx="1775817"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Subscription Impact</a:t>
            </a:r>
            <a:endParaRPr lang="en-US" sz="1350" dirty="0"/>
          </a:p>
        </p:txBody>
      </p:sp>
      <p:sp>
        <p:nvSpPr>
          <p:cNvPr id="10" name="Text 8"/>
          <p:cNvSpPr/>
          <p:nvPr/>
        </p:nvSpPr>
        <p:spPr>
          <a:xfrm>
            <a:off x="3478560" y="2136279"/>
            <a:ext cx="2243956"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Subscription customers showed higher purchase frequency.</a:t>
            </a:r>
            <a:endParaRPr lang="en-US" sz="1100" dirty="0"/>
          </a:p>
        </p:txBody>
      </p:sp>
      <p:sp>
        <p:nvSpPr>
          <p:cNvPr id="11" name="Shape 9"/>
          <p:cNvSpPr/>
          <p:nvPr/>
        </p:nvSpPr>
        <p:spPr>
          <a:xfrm>
            <a:off x="6025083" y="1668959"/>
            <a:ext cx="2622724" cy="1308571"/>
          </a:xfrm>
          <a:prstGeom prst="roundRect">
            <a:avLst>
              <a:gd name="adj" fmla="val 6988"/>
            </a:avLst>
          </a:prstGeom>
          <a:solidFill>
            <a:srgbClr val="FFFFFF"/>
          </a:solidFill>
          <a:ln w="19050">
            <a:solidFill>
              <a:srgbClr val="E5BEB2"/>
            </a:solidFill>
            <a:prstDash val="solid"/>
          </a:ln>
        </p:spPr>
      </p:sp>
      <p:sp>
        <p:nvSpPr>
          <p:cNvPr id="12" name="Shape 10"/>
          <p:cNvSpPr/>
          <p:nvPr/>
        </p:nvSpPr>
        <p:spPr>
          <a:xfrm>
            <a:off x="6006033" y="1668959"/>
            <a:ext cx="76200" cy="1308571"/>
          </a:xfrm>
          <a:prstGeom prst="roundRect">
            <a:avLst>
              <a:gd name="adj" fmla="val 78140"/>
            </a:avLst>
          </a:prstGeom>
          <a:solidFill>
            <a:srgbClr val="FFAD94"/>
          </a:solidFill>
          <a:ln/>
        </p:spPr>
      </p:sp>
      <p:sp>
        <p:nvSpPr>
          <p:cNvPr id="13" name="Text 11"/>
          <p:cNvSpPr/>
          <p:nvPr/>
        </p:nvSpPr>
        <p:spPr>
          <a:xfrm>
            <a:off x="6243042" y="1829767"/>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Seasonal Trends</a:t>
            </a:r>
            <a:endParaRPr lang="en-US" sz="1350" dirty="0"/>
          </a:p>
        </p:txBody>
      </p:sp>
      <p:sp>
        <p:nvSpPr>
          <p:cNvPr id="14" name="Text 12"/>
          <p:cNvSpPr/>
          <p:nvPr/>
        </p:nvSpPr>
        <p:spPr>
          <a:xfrm>
            <a:off x="6243042" y="2136279"/>
            <a:ext cx="2243956"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Seasonal trends affected customer buying behavior.</a:t>
            </a:r>
            <a:endParaRPr lang="en-US" sz="1100" dirty="0"/>
          </a:p>
        </p:txBody>
      </p:sp>
      <p:sp>
        <p:nvSpPr>
          <p:cNvPr id="15" name="Shape 13"/>
          <p:cNvSpPr/>
          <p:nvPr/>
        </p:nvSpPr>
        <p:spPr>
          <a:xfrm>
            <a:off x="496119" y="3119289"/>
            <a:ext cx="2622724" cy="1081757"/>
          </a:xfrm>
          <a:prstGeom prst="roundRect">
            <a:avLst>
              <a:gd name="adj" fmla="val 8453"/>
            </a:avLst>
          </a:prstGeom>
          <a:solidFill>
            <a:srgbClr val="FFFFFF"/>
          </a:solidFill>
          <a:ln w="19050">
            <a:solidFill>
              <a:srgbClr val="E5BEB2"/>
            </a:solidFill>
            <a:prstDash val="solid"/>
          </a:ln>
        </p:spPr>
      </p:sp>
      <p:sp>
        <p:nvSpPr>
          <p:cNvPr id="16" name="Shape 14"/>
          <p:cNvSpPr/>
          <p:nvPr/>
        </p:nvSpPr>
        <p:spPr>
          <a:xfrm>
            <a:off x="477069" y="3119289"/>
            <a:ext cx="76200" cy="1081757"/>
          </a:xfrm>
          <a:prstGeom prst="roundRect">
            <a:avLst>
              <a:gd name="adj" fmla="val 78140"/>
            </a:avLst>
          </a:prstGeom>
          <a:solidFill>
            <a:srgbClr val="FFAD94"/>
          </a:solidFill>
          <a:ln/>
        </p:spPr>
      </p:sp>
      <p:sp>
        <p:nvSpPr>
          <p:cNvPr id="17" name="Text 15"/>
          <p:cNvSpPr/>
          <p:nvPr/>
        </p:nvSpPr>
        <p:spPr>
          <a:xfrm>
            <a:off x="714077" y="3280097"/>
            <a:ext cx="2155180"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Promotion Effectiveness</a:t>
            </a:r>
            <a:endParaRPr lang="en-US" sz="1350" dirty="0"/>
          </a:p>
        </p:txBody>
      </p:sp>
      <p:sp>
        <p:nvSpPr>
          <p:cNvPr id="18" name="Text 16"/>
          <p:cNvSpPr/>
          <p:nvPr/>
        </p:nvSpPr>
        <p:spPr>
          <a:xfrm>
            <a:off x="714077" y="3586609"/>
            <a:ext cx="2243956"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Discounts and promo codes positively influenced sales.</a:t>
            </a:r>
            <a:endParaRPr lang="en-US" sz="1100" dirty="0"/>
          </a:p>
        </p:txBody>
      </p:sp>
      <p:sp>
        <p:nvSpPr>
          <p:cNvPr id="19" name="Shape 17"/>
          <p:cNvSpPr/>
          <p:nvPr/>
        </p:nvSpPr>
        <p:spPr>
          <a:xfrm>
            <a:off x="3260601" y="3119289"/>
            <a:ext cx="2622724" cy="1081757"/>
          </a:xfrm>
          <a:prstGeom prst="roundRect">
            <a:avLst>
              <a:gd name="adj" fmla="val 8453"/>
            </a:avLst>
          </a:prstGeom>
          <a:solidFill>
            <a:srgbClr val="FFFFFF"/>
          </a:solidFill>
          <a:ln w="19050">
            <a:solidFill>
              <a:srgbClr val="E5BEB2"/>
            </a:solidFill>
            <a:prstDash val="solid"/>
          </a:ln>
        </p:spPr>
      </p:sp>
      <p:sp>
        <p:nvSpPr>
          <p:cNvPr id="20" name="Shape 18"/>
          <p:cNvSpPr/>
          <p:nvPr/>
        </p:nvSpPr>
        <p:spPr>
          <a:xfrm>
            <a:off x="3241551" y="3119289"/>
            <a:ext cx="76200" cy="1081757"/>
          </a:xfrm>
          <a:prstGeom prst="roundRect">
            <a:avLst>
              <a:gd name="adj" fmla="val 78140"/>
            </a:avLst>
          </a:prstGeom>
          <a:solidFill>
            <a:srgbClr val="FFAD94"/>
          </a:solidFill>
          <a:ln/>
        </p:spPr>
      </p:sp>
      <p:sp>
        <p:nvSpPr>
          <p:cNvPr id="21" name="Text 19"/>
          <p:cNvSpPr/>
          <p:nvPr/>
        </p:nvSpPr>
        <p:spPr>
          <a:xfrm>
            <a:off x="3478560" y="3280097"/>
            <a:ext cx="1847478"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Payment Preferences</a:t>
            </a:r>
            <a:endParaRPr lang="en-US" sz="1350" dirty="0"/>
          </a:p>
        </p:txBody>
      </p:sp>
      <p:sp>
        <p:nvSpPr>
          <p:cNvPr id="22" name="Text 20"/>
          <p:cNvSpPr/>
          <p:nvPr/>
        </p:nvSpPr>
        <p:spPr>
          <a:xfrm>
            <a:off x="3478560" y="3586609"/>
            <a:ext cx="2243956"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Specific payment methods were preferred by customers.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419969"/>
            <a:ext cx="3544119"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Technologies Used</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146474"/>
            <a:ext cx="354360" cy="354360"/>
          </a:xfrm>
          <a:prstGeom prst="rect">
            <a:avLst/>
          </a:prstGeom>
        </p:spPr>
      </p:pic>
      <p:sp>
        <p:nvSpPr>
          <p:cNvPr id="4" name="Text 1"/>
          <p:cNvSpPr/>
          <p:nvPr/>
        </p:nvSpPr>
        <p:spPr>
          <a:xfrm>
            <a:off x="1027658" y="2146474"/>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PySpark</a:t>
            </a:r>
            <a:endParaRPr lang="en-US" sz="1350" dirty="0"/>
          </a:p>
        </p:txBody>
      </p:sp>
      <p:sp>
        <p:nvSpPr>
          <p:cNvPr id="5" name="Text 2"/>
          <p:cNvSpPr/>
          <p:nvPr/>
        </p:nvSpPr>
        <p:spPr>
          <a:xfrm>
            <a:off x="1027658" y="2452985"/>
            <a:ext cx="2067595"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ELT and data transformation operations</a:t>
            </a:r>
            <a:endParaRPr lang="en-US" sz="11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2433" y="2146474"/>
            <a:ext cx="354360" cy="354360"/>
          </a:xfrm>
          <a:prstGeom prst="rect">
            <a:avLst/>
          </a:prstGeom>
        </p:spPr>
      </p:pic>
      <p:sp>
        <p:nvSpPr>
          <p:cNvPr id="7" name="Text 3"/>
          <p:cNvSpPr/>
          <p:nvPr/>
        </p:nvSpPr>
        <p:spPr>
          <a:xfrm>
            <a:off x="3803972" y="2146474"/>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Power BI</a:t>
            </a:r>
            <a:endParaRPr lang="en-US" sz="1350" dirty="0"/>
          </a:p>
        </p:txBody>
      </p:sp>
      <p:sp>
        <p:nvSpPr>
          <p:cNvPr id="8" name="Text 4"/>
          <p:cNvSpPr/>
          <p:nvPr/>
        </p:nvSpPr>
        <p:spPr>
          <a:xfrm>
            <a:off x="3803972" y="2452985"/>
            <a:ext cx="2067595" cy="453628"/>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Dashboard development and visualization</a:t>
            </a:r>
            <a:endParaRPr lang="en-US" sz="11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8747" y="2146474"/>
            <a:ext cx="354360" cy="354360"/>
          </a:xfrm>
          <a:prstGeom prst="rect">
            <a:avLst/>
          </a:prstGeom>
        </p:spPr>
      </p:pic>
      <p:sp>
        <p:nvSpPr>
          <p:cNvPr id="10" name="Text 5"/>
          <p:cNvSpPr/>
          <p:nvPr/>
        </p:nvSpPr>
        <p:spPr>
          <a:xfrm>
            <a:off x="6580287" y="2146474"/>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Power Query</a:t>
            </a:r>
            <a:endParaRPr lang="en-US" sz="1350" dirty="0"/>
          </a:p>
        </p:txBody>
      </p:sp>
      <p:sp>
        <p:nvSpPr>
          <p:cNvPr id="11" name="Text 6"/>
          <p:cNvSpPr/>
          <p:nvPr/>
        </p:nvSpPr>
        <p:spPr>
          <a:xfrm>
            <a:off x="6580287" y="2452985"/>
            <a:ext cx="2067595" cy="226814"/>
          </a:xfrm>
          <a:prstGeom prst="rect">
            <a:avLst/>
          </a:prstGeom>
          <a:noFill/>
          <a:ln/>
        </p:spPr>
        <p:txBody>
          <a:bodyPr wrap="non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Data cleaning and preparation</a:t>
            </a:r>
            <a:endParaRPr lang="en-US" sz="11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3190131"/>
            <a:ext cx="354360" cy="354360"/>
          </a:xfrm>
          <a:prstGeom prst="rect">
            <a:avLst/>
          </a:prstGeom>
        </p:spPr>
      </p:pic>
      <p:sp>
        <p:nvSpPr>
          <p:cNvPr id="13" name="Text 7"/>
          <p:cNvSpPr/>
          <p:nvPr/>
        </p:nvSpPr>
        <p:spPr>
          <a:xfrm>
            <a:off x="1027658" y="3190131"/>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DAX</a:t>
            </a:r>
            <a:endParaRPr lang="en-US" sz="1350" dirty="0"/>
          </a:p>
        </p:txBody>
      </p:sp>
      <p:sp>
        <p:nvSpPr>
          <p:cNvPr id="14" name="Text 8"/>
          <p:cNvSpPr/>
          <p:nvPr/>
        </p:nvSpPr>
        <p:spPr>
          <a:xfrm>
            <a:off x="1027658" y="3496642"/>
            <a:ext cx="2067595" cy="226814"/>
          </a:xfrm>
          <a:prstGeom prst="rect">
            <a:avLst/>
          </a:prstGeom>
          <a:noFill/>
          <a:ln/>
        </p:spPr>
        <p:txBody>
          <a:bodyPr wrap="non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KPI and measure calculations</a:t>
            </a:r>
            <a:endParaRPr lang="en-US" sz="11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72433" y="3190131"/>
            <a:ext cx="354360" cy="354360"/>
          </a:xfrm>
          <a:prstGeom prst="rect">
            <a:avLst/>
          </a:prstGeom>
        </p:spPr>
      </p:pic>
      <p:sp>
        <p:nvSpPr>
          <p:cNvPr id="16" name="Text 9"/>
          <p:cNvSpPr/>
          <p:nvPr/>
        </p:nvSpPr>
        <p:spPr>
          <a:xfrm>
            <a:off x="3803972" y="3190131"/>
            <a:ext cx="1772022" cy="221456"/>
          </a:xfrm>
          <a:prstGeom prst="rect">
            <a:avLst/>
          </a:prstGeom>
          <a:noFill/>
          <a:ln/>
        </p:spPr>
        <p:txBody>
          <a:bodyPr wrap="none" lIns="0" tIns="0" rIns="0" bIns="0" rtlCol="0" anchor="t"/>
          <a:lstStyle/>
          <a:p>
            <a:pPr algn="l" indent="0" marL="0">
              <a:lnSpc>
                <a:spcPts val="1700"/>
              </a:lnSpc>
              <a:buNone/>
            </a:pPr>
            <a:r>
              <a:rPr lang="en-US" sz="1350" b="1" dirty="0">
                <a:solidFill>
                  <a:srgbClr val="403C4E"/>
                </a:solidFill>
                <a:latin typeface="Merriweather Bold" pitchFamily="34" charset="0"/>
                <a:ea typeface="Merriweather Bold" pitchFamily="34" charset="-122"/>
                <a:cs typeface="Merriweather Bold" pitchFamily="34" charset="-120"/>
              </a:rPr>
              <a:t>CSV Dataset</a:t>
            </a:r>
            <a:endParaRPr lang="en-US" sz="1350" dirty="0"/>
          </a:p>
        </p:txBody>
      </p:sp>
      <p:sp>
        <p:nvSpPr>
          <p:cNvPr id="17" name="Text 10"/>
          <p:cNvSpPr/>
          <p:nvPr/>
        </p:nvSpPr>
        <p:spPr>
          <a:xfrm>
            <a:off x="3803972" y="3496642"/>
            <a:ext cx="2067595" cy="226814"/>
          </a:xfrm>
          <a:prstGeom prst="rect">
            <a:avLst/>
          </a:prstGeom>
          <a:noFill/>
          <a:ln/>
        </p:spPr>
        <p:txBody>
          <a:bodyPr wrap="non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Source data storage format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65038"/>
            <a:ext cx="3544119" cy="442987"/>
          </a:xfrm>
          <a:prstGeom prst="rect">
            <a:avLst/>
          </a:prstGeom>
          <a:noFill/>
          <a:ln/>
        </p:spPr>
        <p:txBody>
          <a:bodyPr wrap="none" lIns="0" tIns="0" rIns="0" bIns="0" rtlCol="0" anchor="t"/>
          <a:lstStyle/>
          <a:p>
            <a:pPr algn="l" indent="0" marL="0">
              <a:lnSpc>
                <a:spcPts val="3450"/>
              </a:lnSpc>
              <a:buNone/>
            </a:pPr>
            <a:r>
              <a:rPr lang="en-US" sz="2750" b="1" dirty="0">
                <a:solidFill>
                  <a:srgbClr val="403C4E"/>
                </a:solidFill>
                <a:latin typeface="Merriweather Bold" pitchFamily="34" charset="0"/>
                <a:ea typeface="Merriweather Bold" pitchFamily="34" charset="-122"/>
                <a:cs typeface="Merriweather Bold" pitchFamily="34" charset="-120"/>
              </a:rPr>
              <a:t>Conclusion</a:t>
            </a:r>
            <a:endParaRPr lang="en-US" sz="2750" dirty="0"/>
          </a:p>
        </p:txBody>
      </p:sp>
      <p:sp>
        <p:nvSpPr>
          <p:cNvPr id="3" name="Text 1"/>
          <p:cNvSpPr/>
          <p:nvPr/>
        </p:nvSpPr>
        <p:spPr>
          <a:xfrm>
            <a:off x="496119" y="1614860"/>
            <a:ext cx="3902943" cy="1134070"/>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This project demonstrates the integration of PySpark and Power BI for retail analytics. PySpark was utilized for scalable ELT operations, while Power BI enabled the creation of interactive dashboards and business intelligence reports.</a:t>
            </a:r>
            <a:endParaRPr lang="en-US" sz="1100" dirty="0"/>
          </a:p>
        </p:txBody>
      </p:sp>
      <p:sp>
        <p:nvSpPr>
          <p:cNvPr id="4" name="Text 2"/>
          <p:cNvSpPr/>
          <p:nvPr/>
        </p:nvSpPr>
        <p:spPr>
          <a:xfrm>
            <a:off x="496119" y="2876476"/>
            <a:ext cx="3902943" cy="680442"/>
          </a:xfrm>
          <a:prstGeom prst="rect">
            <a:avLst/>
          </a:prstGeom>
          <a:noFill/>
          <a:ln/>
        </p:spPr>
        <p:txBody>
          <a:bodyPr wrap="square" lIns="0" tIns="0" rIns="0" bIns="0" rtlCol="0" anchor="t"/>
          <a:lstStyle/>
          <a:p>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The project provides valuable insights into customer purchasing behavior and supports data-driven decision-making for retail operations.</a:t>
            </a:r>
            <a:endParaRPr lang="en-US" sz="1100" dirty="0"/>
          </a:p>
        </p:txBody>
      </p:sp>
      <p:pic>
        <p:nvPicPr>
          <p:cNvPr id="5" name="Image 0" descr="preencoded.png">    </p:cNvPr>
          <p:cNvPicPr>
            <a:picLocks noChangeAspect="1"/>
          </p:cNvPicPr>
          <p:nvPr/>
        </p:nvPicPr>
        <p:blipFill>
          <a:blip r:embed="rId1"/>
          <a:stretch>
            <a:fillRect/>
          </a:stretch>
        </p:blipFill>
        <p:spPr>
          <a:xfrm>
            <a:off x="4749701" y="1480096"/>
            <a:ext cx="3902943" cy="2211660"/>
          </a:xfrm>
          <a:prstGeom prst="rect">
            <a:avLst/>
          </a:prstGeom>
        </p:spPr>
      </p:pic>
      <p:sp>
        <p:nvSpPr>
          <p:cNvPr id="6" name="Shape 3"/>
          <p:cNvSpPr/>
          <p:nvPr/>
        </p:nvSpPr>
        <p:spPr>
          <a:xfrm>
            <a:off x="496119" y="4046116"/>
            <a:ext cx="8151763" cy="10567"/>
          </a:xfrm>
          <a:prstGeom prst="rect">
            <a:avLst/>
          </a:prstGeom>
          <a:solidFill>
            <a:srgbClr val="403C4E">
              <a:alpha val="50000"/>
            </a:srgbClr>
          </a:solidFill>
          <a:ln/>
        </p:spPr>
      </p:sp>
      <p:sp>
        <p:nvSpPr>
          <p:cNvPr id="7" name="Text 4"/>
          <p:cNvSpPr/>
          <p:nvPr/>
        </p:nvSpPr>
        <p:spPr>
          <a:xfrm>
            <a:off x="496119" y="4251573"/>
            <a:ext cx="8151763" cy="226814"/>
          </a:xfrm>
          <a:prstGeom prst="rect">
            <a:avLst/>
          </a:prstGeom>
          <a:noFill/>
          <a:ln/>
        </p:spPr>
        <p:txBody>
          <a:bodyPr wrap="none" lIns="0" tIns="0" rIns="0" bIns="0" rtlCol="0" anchor="t"/>
          <a:lstStyle/>
          <a:p>
            <a:pPr algn="l" indent="0" marL="0">
              <a:lnSpc>
                <a:spcPts val="1750"/>
              </a:lnSpc>
              <a:buNone/>
            </a:pPr>
            <a:r>
              <a:rPr lang="en-US" sz="1100" b="1" dirty="0">
                <a:solidFill>
                  <a:srgbClr val="403C4E"/>
                </a:solidFill>
                <a:latin typeface="Open Sans" pitchFamily="34" charset="0"/>
                <a:ea typeface="Open Sans" pitchFamily="34" charset="-122"/>
                <a:cs typeface="Open Sans" pitchFamily="34" charset="-120"/>
              </a:rPr>
              <a:t>Author:</a:t>
            </a:r>
            <a:pPr algn="l" indent="0" marL="0">
              <a:lnSpc>
                <a:spcPts val="1750"/>
              </a:lnSpc>
              <a:buNone/>
            </a:pPr>
            <a:r>
              <a:rPr lang="en-US" sz="1100" dirty="0">
                <a:solidFill>
                  <a:srgbClr val="403C4E"/>
                </a:solidFill>
                <a:latin typeface="Open Sans" pitchFamily="34" charset="0"/>
                <a:ea typeface="Open Sans" pitchFamily="34" charset="-122"/>
                <a:cs typeface="Open Sans" pitchFamily="34" charset="-120"/>
              </a:rPr>
              <a:t> Vishvajeet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2026-05-10T19:11:22Z</dcterms:created>
  <dcterms:modified xsi:type="dcterms:W3CDTF">2026-05-10T19:11:22Z</dcterms:modified>
</cp:coreProperties>
</file>